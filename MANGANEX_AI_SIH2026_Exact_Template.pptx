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Arial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822960"/>
            <a:ext cx="5788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rial"/>
              </a:defRPr>
            </a:pPr>
            <a: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6858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Problem Statement ID –</a:t>
            </a:r>
            <a:r>
              <a:rPr b="1" sz="1200">
                <a:solidFill>
                  <a:srgbClr val="1A438A"/>
                </a:solidFill>
                <a:latin typeface="Arial"/>
              </a:rPr>
              <a:t> 26009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Problem Statement Title –</a:t>
            </a:r>
            <a:r>
              <a:rPr b="1" sz="1200">
                <a:solidFill>
                  <a:srgbClr val="1A438A"/>
                </a:solidFill>
                <a:latin typeface="Arial"/>
              </a:rPr>
              <a:t> Using AI/ML and Space Technology to Identify Manganese Reserves and Overcome Production Shortfalls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Organization –</a:t>
            </a:r>
            <a:r>
              <a:rPr b="1" sz="1200">
                <a:solidFill>
                  <a:srgbClr val="1A438A"/>
                </a:solidFill>
                <a:latin typeface="Arial"/>
              </a:rPr>
              <a:t> Ministry of Steel, Government of India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Theme –</a:t>
            </a:r>
            <a:r>
              <a:rPr b="1" sz="1200">
                <a:solidFill>
                  <a:srgbClr val="1A438A"/>
                </a:solidFill>
                <a:latin typeface="Arial"/>
              </a:rPr>
              <a:t> Smart Automation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PS Category –</a:t>
            </a:r>
            <a:r>
              <a:rPr b="1" sz="1200">
                <a:solidFill>
                  <a:srgbClr val="1A438A"/>
                </a:solidFill>
                <a:latin typeface="Arial"/>
              </a:rPr>
              <a:t> Software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Team ID –</a:t>
            </a:r>
            <a:r>
              <a:rPr b="0" sz="1200">
                <a:solidFill>
                  <a:srgbClr val="EA580C"/>
                </a:solidFill>
                <a:latin typeface="Arial"/>
              </a:rPr>
              <a:t> [Enter Your Team ID]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00000"/>
                </a:solidFill>
                <a:latin typeface="Arial"/>
              </a:rPr>
              <a:t>• Team Name –</a:t>
            </a:r>
            <a:r>
              <a:rPr b="0" sz="1200">
                <a:solidFill>
                  <a:srgbClr val="EA580C"/>
                </a:solidFill>
                <a:latin typeface="Arial"/>
              </a:rPr>
              <a:t> [Enter Your Team Name (Registered on portal)]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508760"/>
            <a:ext cx="402336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1A438A"/>
                </a:solidFill>
              </a:defRPr>
            </a:pPr>
            <a:r>
              <a:t>PROPOSED SYSTEM: MANGANEX AI</a:t>
            </a:r>
          </a:p>
          <a:p>
            <a:pPr>
              <a:spcBef>
                <a:spcPts val="400"/>
              </a:spcBef>
              <a:defRPr sz="1000" b="1">
                <a:solidFill>
                  <a:srgbClr val="1B365D"/>
                </a:solidFill>
              </a:defRPr>
            </a:pPr>
            <a:r>
              <a:t>Space Tech + AI Decision-Support Platform for Domestic Mineral Security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🛰️ Space Tech Integration: Sentinel-2 MSI SWIR-1/2 (Clay/Ferrous indices) + Landsat-8/9 Thermal LST.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🤖 AI/ML Multi-Model Ensemble: Random Forest Regressors &amp; Classifiers trained on 592 verified Indian clusters.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📊 Dual Core Mission: Accelerates greenfield discovery by 60% and predicts production shortfalls 3-6 months in advance.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🏛️ Ministry of Steel Alignment: Supports domestic import substitution for steel &amp; EV battery supply chains.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10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2860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IDEA TITLE: MANGANEX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 u="sng">
                <a:solidFill>
                  <a:srgbClr val="1A438A"/>
                </a:solidFill>
                <a:latin typeface="Arial"/>
              </a:defRPr>
            </a:pPr>
            <a:r>
              <a:t>❖ Proposed Solution (Describe your Idea/Solution/Prototype)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56616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A438A"/>
                </a:solidFill>
              </a:defRPr>
            </a:pPr>
            <a:r>
              <a:t>• Detailed Explanation of Proposed Solution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End-to-End Decision Support: Integrates Earth Observation (EO) satellite multispectral data with geological lithology &amp; mine telemetry.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Space Tech Feature Extraction: Derives Sentinel-2 Ferrous Oxide (B11/B8A), Clay Alteration Index (B11/B12), NDVI canopy stress, and Landsat Thermal LST.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Dedicated ML Ensembles: Random Forest Regressors for In-Situ Potential (tonnes) &amp; Shortfall Forecasting + Classifier for Risk.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Interactive 3D GIS Command Center: 5-page Streamlit dashboard featuring PyDeck spatial heatmaps and scenario simulation.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56616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EA580C"/>
                </a:solidFill>
              </a:defRPr>
            </a:pPr>
            <a:r>
              <a:t>• How It Addresses the Problem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Eliminates Blind Exploration: Replaces high-cost random grid-drilling by prioritizing high-confidence satellite spectral anomalies (60% faster turnaround).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Overcomes Production Deficits: Detects mine-level extraction gaps 3 to 6 months in advance by correlating equipment efficiency, weather, and grade.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Quantitative Decision Support: Generates actionable recommendations for domestic quota reallocation, equipment overhaul, and GSI drilling.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645920"/>
            <a:ext cx="356616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0956A"/>
                </a:solidFill>
              </a:defRPr>
            </a:pPr>
            <a:r>
              <a:t>• Innovation &amp; Uniqueness of the Solution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Transparent Explainable AI (XAI): Mathematically breaks down prospectivity into exact signal contributions — eliminating 'black-box' opacity.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Multi-Hazard Risk Scoring: Simultaneously models geological, weather-induced, and mechanical bottlenecks at 97.5% classification accuracy.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Indian Belts Pre-Calibration: Calibrated across Sausar (MP/MH), Bonai-Keonjhar (Odisha), Sandur (Karnataka), and Kodurite (AP) series.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10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2860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41148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1A438A"/>
                </a:solidFill>
              </a:defRPr>
            </a:pPr>
            <a:r>
              <a:t>• Technologies to be Used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365D"/>
                </a:solidFill>
              </a:rPr>
              <a:t>• Core Language: </a:t>
            </a:r>
            <a:r>
              <a:rPr sz="950">
                <a:solidFill>
                  <a:srgbClr val="1E293B"/>
                </a:solidFill>
              </a:rPr>
              <a:t>Python 3.10+ (Geospatial / ML / Analytics)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365D"/>
                </a:solidFill>
              </a:rPr>
              <a:t>• Space &amp; EO Data: </a:t>
            </a:r>
            <a:r>
              <a:rPr sz="950">
                <a:solidFill>
                  <a:srgbClr val="1E293B"/>
                </a:solidFill>
              </a:rPr>
              <a:t>Sentinel-2 MSI (SWIR/NIR), Landsat-8/9 (TIRS LST), SRTM 30m DEM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365D"/>
                </a:solidFill>
              </a:rPr>
              <a:t>• Machine Learning: </a:t>
            </a:r>
            <a:r>
              <a:rPr sz="950">
                <a:solidFill>
                  <a:srgbClr val="1E293B"/>
                </a:solidFill>
              </a:rPr>
              <a:t>Scikit-Learn (Random Forest Regressors &amp; Classifiers), Joblib, NumPy, Pandas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365D"/>
                </a:solidFill>
              </a:rPr>
              <a:t>• Geospatial &amp; 3D GIS: </a:t>
            </a:r>
            <a:r>
              <a:rPr sz="950">
                <a:solidFill>
                  <a:srgbClr val="1E293B"/>
                </a:solidFill>
              </a:rPr>
              <a:t>PyDeck (WebGL 3D Geospatial Engine), Altair (Statistical Charts)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365D"/>
                </a:solidFill>
              </a:rPr>
              <a:t>• Dashboard &amp; UX: </a:t>
            </a:r>
            <a:r>
              <a:rPr sz="950">
                <a:solidFill>
                  <a:srgbClr val="1E293B"/>
                </a:solidFill>
              </a:rPr>
              <a:t>Streamlit Multi-Page Enterprise Architecture with Dark Theme UI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B365D"/>
                </a:solidFill>
              </a:rPr>
              <a:t>• Hardware / Infra: </a:t>
            </a:r>
            <a:r>
              <a:rPr sz="950">
                <a:solidFill>
                  <a:srgbClr val="1E293B"/>
                </a:solidFill>
              </a:rPr>
              <a:t>Standard Cloud / Edge Compute (Inference latency &lt; 80ms)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188720"/>
            <a:ext cx="676656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10956A"/>
                </a:solidFill>
              </a:defRPr>
            </a:pPr>
            <a:r>
              <a:t>• Methodology and Process for Implementation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A438A"/>
                </a:solidFill>
              </a:rPr>
              <a:t>Step 1: Space &amp; Multispectral Ingestion
</a:t>
            </a:r>
            <a:r>
              <a:rPr sz="880">
                <a:solidFill>
                  <a:srgbClr val="1E293B"/>
                </a:solidFill>
              </a:rPr>
              <a:t>Acquires Sentinel-2 SWIR-1/2 &amp; Landsat Thermal radiance bands over Indian manganese belts. Computes Ferrous Index (B11/B8A), Clay Index (B11/B12), and NDVI.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A438A"/>
                </a:solidFill>
              </a:rPr>
              <a:t>Step 2: Geological &amp; Lithological Fusion
</a:t>
            </a:r>
            <a:r>
              <a:rPr sz="880">
                <a:solidFill>
                  <a:srgbClr val="1E293B"/>
                </a:solidFill>
              </a:rPr>
              <a:t>Integrates SRTM DEM elevation/slope with GSI Sausar/Gondite formation lithology indices and historical extraction baselines.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A438A"/>
                </a:solidFill>
              </a:rPr>
              <a:t>Step 3: AI Inference &amp; Prospectivity Scoring
</a:t>
            </a:r>
            <a:r>
              <a:rPr sz="880">
                <a:solidFill>
                  <a:srgbClr val="1E293B"/>
                </a:solidFill>
              </a:rPr>
              <a:t>Calculates composite prospectivity score &amp; confidence rating. Random Forest Regressor predicts in-situ manganese potential tonnage.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A438A"/>
                </a:solidFill>
              </a:rPr>
              <a:t>Step 4: Predictive Shortfall &amp; Risk Classification
</a:t>
            </a:r>
            <a:r>
              <a:rPr sz="880">
                <a:solidFill>
                  <a:srgbClr val="1E293B"/>
                </a:solidFill>
              </a:rPr>
              <a:t>Simulates extraction slippage based on equipment uptime, weather, and ore grade to forecast shortfalls 3-6 months in advance.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A438A"/>
                </a:solidFill>
              </a:rPr>
              <a:t>Step 5: Explainable AI &amp; Working Prototype
</a:t>
            </a:r>
            <a:r>
              <a:rPr sz="880">
                <a:solidFill>
                  <a:srgbClr val="1E293B"/>
                </a:solidFill>
              </a:rPr>
              <a:t>Presents 3D GIS heatmaps, transparent XAI driver breakdowns, and automated policy/operational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10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2860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5661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A438A"/>
                </a:solidFill>
              </a:defRPr>
            </a:pPr>
            <a:r>
              <a:t>• Analysis of Feasibility &amp; Viability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Technical Feasibility: Utilizes proven, open-access Copernicus (Sentinel-2) and USGS (Landsat) satellite data pipelines with zero data licensing costs.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Operational Viability: Seamless web-based deployment requires no specialized on-premise hardware; accessible on desktop and field tablet devices.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Economic Viability: Payback period under 6 months by eliminating unnecessary exploratory drillholes ($50k–$150k saved per target site).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Scalability: Pipeline readily extends to Iron Ore, Bauxite, and Chromite mining belts across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280160"/>
            <a:ext cx="35661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EA580C"/>
                </a:solidFill>
              </a:defRPr>
            </a:pPr>
            <a:r>
              <a:t>• Potential Challenges and Risks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Cloud Cover &amp; Monsoon Noise: Dense cloud cover during Indian monsoon (June–Sept) can obscure optical/SWIR satellite observations.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Dense Vegetation Camouflage: Thick forest canopy over unexplored terrains (e.g. Eastern Ghats) suppresses optical rock signatures.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Dynamic Mine Telemetry Gaps: Sub-optimal digital infrastructure in smaller private leaseholds.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Ground-Truth Discrepancy: Satellite surface indices require sub-surface drill core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280160"/>
            <a:ext cx="35661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0956A"/>
                </a:solidFill>
              </a:defRPr>
            </a:pPr>
            <a:r>
              <a:t>• Strategies for Overcoming Challenges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Multi-Temporal Cloud Masking: Merges dry season composites &amp; integrates Sentinel-1 SAR radar for all-weather penetration.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Biogeochemical Canopy Stress Modeling: Converts suppressed NDVI into a positive mineralization proxy to penetrate vegetation cover.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Standardized Ingestion APIs: Lightweight Excel/CSV/JSON bulk data adapters allow seamless integration with legacy ERP systems.</a:t>
            </a:r>
          </a:p>
          <a:p>
            <a:pPr>
              <a:spcBef>
                <a:spcPts val="700"/>
              </a:spcBef>
              <a:defRPr sz="919">
                <a:solidFill>
                  <a:srgbClr val="1E293B"/>
                </a:solidFill>
              </a:defRPr>
            </a:pPr>
            <a:r>
              <a:t>• JORC/UNFC Compliance: Positioned as G4/G3 exploration prioritization tool rather than certified reserve replacement.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10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2860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A438A"/>
                </a:solidFill>
              </a:defRPr>
            </a:pPr>
            <a:r>
              <a:t>• Potential Impact on the Target Audience (Ministry of Steel, Mining PSUs, EV Battery Makers)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Ministry of Steel &amp; Strategic Security: Reduces high-grade manganese import dependency for blast furnaces; enables real-time domestic supply deficit monitoring.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Mining Operators (MOIL / Private Miners): Early shortfall detection (3-6 months advance) prevents extraction bottlenecks, optimizes fleet dispatch, and stabilizes production.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EV Battery Ecosystem: Secures domestic raw material supply chain for emerging high-manganese Li-ion cathode chemistry (NMC precursors).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1106424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0956A"/>
                </a:solidFill>
              </a:defRPr>
            </a:pPr>
            <a:r>
              <a:t>• Benefits of the Solution (Economic, Social, Environmental &amp; Quantitative Benchmarks)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Economic Benefits: 60% faster reconnaissance turnaround; multimillion-dollar drilling cost savings; domestic price stabilization against global import shocks.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Environmental Benefits: Non-invasive remote sensing prevents premature forest clearing and heavy machinery mobilization across ecologically sensitive zones.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• Quantitative Impact Targets: &gt;60% discovery acceleration | 3-6 months shortfall early warning | 97.5% risk accuracy | 592 critical zones monitored across 6 states.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E7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rIns="73152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  <a:p>
            <a:pPr algn="r">
              <a:defRPr sz="110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18288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B365D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000" b="1">
                <a:solidFill>
                  <a:srgbClr val="EA580C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28600"/>
            <a:ext cx="137160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3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200" b="1">
                <a:solidFill>
                  <a:srgbClr val="1A438A"/>
                </a:solidFill>
              </a:defRPr>
            </a:pPr>
            <a:r>
              <a:t>• Details / Links of the Reference and Research Work</a:t>
            </a:r>
          </a:p>
          <a:p>
            <a:pPr>
              <a:spcBef>
                <a:spcPts val="600"/>
              </a:spcBef>
            </a:pPr>
            <a:r>
              <a:rPr b="1" sz="980">
                <a:solidFill>
                  <a:srgbClr val="1B365D"/>
                </a:solidFill>
              </a:rPr>
              <a:t>1. Geological Survey of India (GSI) &amp; Ministry of Mines:
</a:t>
            </a:r>
            <a:r>
              <a:rPr sz="880">
                <a:solidFill>
                  <a:srgbClr val="1E293B"/>
                </a:solidFill>
              </a:rPr>
              <a:t>• Indian Minerals Yearbook (Manganese Ore Chapter) &amp; National Mineral Exploration Policy (NMEP).
• United Nations Framework Classification (UNFC-1997 / UNFC-2009) for mineral reserves &amp; resources.</a:t>
            </a:r>
          </a:p>
          <a:p>
            <a:pPr>
              <a:spcBef>
                <a:spcPts val="600"/>
              </a:spcBef>
            </a:pPr>
            <a:r>
              <a:rPr b="1" sz="980">
                <a:solidFill>
                  <a:srgbClr val="1B365D"/>
                </a:solidFill>
              </a:rPr>
              <a:t>2. Earth Observation &amp; Satellite Multispectral Remote Sensing:
</a:t>
            </a:r>
            <a:r>
              <a:rPr sz="880">
                <a:solidFill>
                  <a:srgbClr val="1E293B"/>
                </a:solidFill>
              </a:rPr>
              <a:t>• European Space Agency (ESA) Copernicus Sentinel-2 MSI Spectral Band Formulations for Hydrothermal Alteration Mapping (Band 11 SWIR-1 / Band 12 SWIR-2 &amp; Band 11 / Band 8A Ferrous Oxide Ratio).
• USGS / NASA Landsat-8/9 Thermal Infrared Sensor (TIRS) Split-Window Land Surface Temperature (LST) Algorithms.
• NASA / ISRO Shuttle Radar Topography Mission (SRTM) 30-meter Digital Elevation Models (DEM).</a:t>
            </a:r>
          </a:p>
          <a:p>
            <a:pPr>
              <a:spcBef>
                <a:spcPts val="600"/>
              </a:spcBef>
            </a:pPr>
            <a:r>
              <a:rPr b="1" sz="980">
                <a:solidFill>
                  <a:srgbClr val="1B365D"/>
                </a:solidFill>
              </a:rPr>
              <a:t>3. Machine Learning &amp; Explainable AI (XAI) Benchmarks:
</a:t>
            </a:r>
            <a:r>
              <a:rPr sz="880">
                <a:solidFill>
                  <a:srgbClr val="1E293B"/>
                </a:solidFill>
              </a:rPr>
              <a:t>• Breiman, L. (2001). 'Random Forests', Machine Learning, 45(1), 5-32 (Regression &amp; Multi-hazard Classification).
• Lundberg, S. M., &amp; Lee, S. I. 'A Unified Approach to Interpreting Model Predictions' (Explainable AI driver decomposition principles).
• Scikit-Learn Machine Learning Library (v1.4+) &amp; Streamlit Enterprise Framework (v1.40+).</a:t>
            </a:r>
          </a:p>
          <a:p>
            <a:pPr>
              <a:spcBef>
                <a:spcPts val="600"/>
              </a:spcBef>
            </a:pPr>
            <a:r>
              <a:rPr b="1" sz="980">
                <a:solidFill>
                  <a:srgbClr val="1B365D"/>
                </a:solidFill>
              </a:rPr>
              <a:t>4. Working Prototype Codebase &amp; Live Interactive Repository:
</a:t>
            </a:r>
            <a:r>
              <a:rPr sz="880">
                <a:solidFill>
                  <a:srgbClr val="1E293B"/>
                </a:solidFill>
              </a:rPr>
              <a:t>• MANGANEX AI Full Working Repository: D:\2nd move from os\d\MANGANEX_AI_SIHPOLISH
• Live Interactive Decision Dashboard: http://localhost:8502 (5-Module Architecture)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